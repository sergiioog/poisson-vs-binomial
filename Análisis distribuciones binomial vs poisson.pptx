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33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9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1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9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2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6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3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05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2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49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7346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68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1685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26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01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0C50CD-E178-4744-9B35-B2F624D6C5E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77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162000"/>
                <a:satMod val="200000"/>
                <a:lumMod val="124000"/>
              </a:schemeClr>
            </a:gs>
            <a:gs pos="100000">
              <a:schemeClr val="bg2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8">
            <a:extLst>
              <a:ext uri="{FF2B5EF4-FFF2-40B4-BE49-F238E27FC236}">
                <a16:creationId xmlns:a16="http://schemas.microsoft.com/office/drawing/2014/main" id="{6FF5311F-8E7B-4C66-83B4-83F23B6CE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nip Diagonal Corner Rectangle 6">
            <a:extLst>
              <a:ext uri="{FF2B5EF4-FFF2-40B4-BE49-F238E27FC236}">
                <a16:creationId xmlns:a16="http://schemas.microsoft.com/office/drawing/2014/main" id="{009BD8DA-7E0F-4DAE-BA69-8EE333C2B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1075" cy="6857998"/>
          </a:xfrm>
          <a:prstGeom prst="snip2DiagRect">
            <a:avLst>
              <a:gd name="adj1" fmla="val 0"/>
              <a:gd name="adj2" fmla="val 42414"/>
            </a:avLst>
          </a:prstGeom>
          <a:gradFill>
            <a:gsLst>
              <a:gs pos="10000">
                <a:schemeClr val="dk2">
                  <a:tint val="97000"/>
                  <a:hueMod val="162000"/>
                  <a:satMod val="200000"/>
                  <a:lumMod val="124000"/>
                  <a:alpha val="80000"/>
                </a:schemeClr>
              </a:gs>
              <a:gs pos="100000">
                <a:schemeClr val="dk2">
                  <a:shade val="96000"/>
                  <a:hueMod val="88000"/>
                  <a:satMod val="220000"/>
                  <a:lumMod val="82000"/>
                  <a:alpha val="88000"/>
                </a:schemeClr>
              </a:gs>
            </a:gsLst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FA0222-A513-94EB-2A28-AB481BB9D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966" y="481141"/>
            <a:ext cx="8811382" cy="2866006"/>
          </a:xfrm>
        </p:spPr>
        <p:txBody>
          <a:bodyPr>
            <a:normAutofit/>
          </a:bodyPr>
          <a:lstStyle/>
          <a:p>
            <a:pPr algn="ctr"/>
            <a:r>
              <a:rPr lang="es-ES" b="1" dirty="0"/>
              <a:t>Análisis distribuciones binomial vs </a:t>
            </a:r>
            <a:r>
              <a:rPr lang="es-ES" b="1" dirty="0" err="1"/>
              <a:t>poisson</a:t>
            </a:r>
            <a:r>
              <a:rPr lang="es-ES" b="1" dirty="0"/>
              <a:t> </a:t>
            </a:r>
            <a:br>
              <a:rPr lang="es-ES" b="1" dirty="0"/>
            </a:br>
            <a:r>
              <a:rPr lang="es-ES" b="1" dirty="0"/>
              <a:t>&amp; normal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61AF4D-C6B7-ABE8-D035-D5A355AD3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4639" y="3514344"/>
            <a:ext cx="5133408" cy="914401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Realizado por Sergio García Gordo</a:t>
            </a: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A74F0DBB-A51D-48B5-A3E6-CFB79A009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1344" y="9144"/>
            <a:ext cx="6080656" cy="6163733"/>
            <a:chOff x="6108170" y="8467"/>
            <a:chExt cx="6080656" cy="616373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90E5C4-3E92-487E-943D-CD7EA26E4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1DE700-6555-4BD7-A04B-632D0705E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1F473C7-600A-4968-8374-D1B111FBE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0C38A44-E4A5-46D8-A813-2D7AF59A5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49A656-3FC3-4581-BEBD-FF8A8AC6C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Siméon Denis Poisson — Wikipédia">
            <a:extLst>
              <a:ext uri="{FF2B5EF4-FFF2-40B4-BE49-F238E27FC236}">
                <a16:creationId xmlns:a16="http://schemas.microsoft.com/office/drawing/2014/main" id="{0FA30823-13E3-1523-A445-4552746E1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637" y="4227320"/>
            <a:ext cx="2346040" cy="21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kob_Bernoulli">
            <a:extLst>
              <a:ext uri="{FF2B5EF4-FFF2-40B4-BE49-F238E27FC236}">
                <a16:creationId xmlns:a16="http://schemas.microsoft.com/office/drawing/2014/main" id="{05C2332D-8470-A6DA-EF9D-EABAE9D40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245" y="4205598"/>
            <a:ext cx="1787393" cy="216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trato de Carl Friedrich Gauss, 1840">
            <a:extLst>
              <a:ext uri="{FF2B5EF4-FFF2-40B4-BE49-F238E27FC236}">
                <a16:creationId xmlns:a16="http://schemas.microsoft.com/office/drawing/2014/main" id="{381C87FD-F1BB-F3E1-C3A5-6E62B57DC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266" y="4200144"/>
            <a:ext cx="1757370" cy="223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334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33A38-7B68-935E-DC18-6511C1B6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06" y="352748"/>
            <a:ext cx="8534400" cy="648279"/>
          </a:xfrm>
        </p:spPr>
        <p:txBody>
          <a:bodyPr/>
          <a:lstStyle/>
          <a:p>
            <a:r>
              <a:rPr lang="es-ES" b="1" dirty="0"/>
              <a:t>1) MEDIDAS ESTADÍSTICAS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71CD20-4A07-0796-88FB-3C3D3D69B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68" y="1387010"/>
            <a:ext cx="2999331" cy="5355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DAD18B-45DD-A8CA-FEF5-531F1A8539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0" r="-2121"/>
          <a:stretch>
            <a:fillRect/>
          </a:stretch>
        </p:blipFill>
        <p:spPr>
          <a:xfrm>
            <a:off x="582068" y="1919969"/>
            <a:ext cx="2999331" cy="4911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CA7A9EA-B55E-390D-D033-3350C766D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58" y="1373404"/>
            <a:ext cx="3116586" cy="5465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4A2B970-BCA8-36CF-636D-CBC65812F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071" y="1387010"/>
            <a:ext cx="3820058" cy="43821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535D5CC-E1EF-AC30-E912-7D48CF649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071" y="1939019"/>
            <a:ext cx="3962953" cy="41915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7B7146DE-A6D2-481C-3266-9E45D45971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068" y="3000317"/>
            <a:ext cx="5080567" cy="54656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C39FE90-97E0-F4D9-C3FC-A0AA5C83BA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2317" y="4033716"/>
            <a:ext cx="3623958" cy="546564"/>
          </a:xfrm>
          <a:prstGeom prst="rect">
            <a:avLst/>
          </a:prstGeom>
        </p:spPr>
      </p:pic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BAF0F67-403F-75CB-7064-9A4F4320594D}"/>
              </a:ext>
            </a:extLst>
          </p:cNvPr>
          <p:cNvCxnSpPr/>
          <p:nvPr/>
        </p:nvCxnSpPr>
        <p:spPr>
          <a:xfrm>
            <a:off x="8711381" y="2074688"/>
            <a:ext cx="552450" cy="1381125"/>
          </a:xfrm>
          <a:prstGeom prst="straightConnector1">
            <a:avLst/>
          </a:prstGeom>
          <a:ln w="38100">
            <a:solidFill>
              <a:schemeClr val="accent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5322A7A-3A17-1392-7D76-D3E5C8D53D12}"/>
              </a:ext>
            </a:extLst>
          </p:cNvPr>
          <p:cNvSpPr/>
          <p:nvPr/>
        </p:nvSpPr>
        <p:spPr>
          <a:xfrm>
            <a:off x="8711381" y="3546881"/>
            <a:ext cx="2160835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C6990D1-0111-EE06-D455-727D2264C6A5}"/>
              </a:ext>
            </a:extLst>
          </p:cNvPr>
          <p:cNvSpPr txBox="1"/>
          <p:nvPr/>
        </p:nvSpPr>
        <p:spPr>
          <a:xfrm>
            <a:off x="8711381" y="3546881"/>
            <a:ext cx="2512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Está cerca de la desviación típica de la </a:t>
            </a:r>
          </a:p>
          <a:p>
            <a:r>
              <a:rPr lang="es-ES" sz="1200" b="1" dirty="0"/>
              <a:t>Distribución de Poisson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CD47672F-2CAD-881C-D930-86CC6614785F}"/>
              </a:ext>
            </a:extLst>
          </p:cNvPr>
          <p:cNvCxnSpPr>
            <a:cxnSpLocks/>
          </p:cNvCxnSpPr>
          <p:nvPr/>
        </p:nvCxnSpPr>
        <p:spPr>
          <a:xfrm flipH="1">
            <a:off x="3388716" y="3116580"/>
            <a:ext cx="192683" cy="1076632"/>
          </a:xfrm>
          <a:prstGeom prst="straightConnector1">
            <a:avLst/>
          </a:prstGeom>
          <a:ln w="38100">
            <a:solidFill>
              <a:schemeClr val="accent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67B246D1-A8F1-B646-E2FC-7A32BD000365}"/>
              </a:ext>
            </a:extLst>
          </p:cNvPr>
          <p:cNvSpPr/>
          <p:nvPr/>
        </p:nvSpPr>
        <p:spPr>
          <a:xfrm>
            <a:off x="2141220" y="4254158"/>
            <a:ext cx="1934006" cy="461665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486CDD5-11C8-1882-14C3-DD77C6A2778B}"/>
              </a:ext>
            </a:extLst>
          </p:cNvPr>
          <p:cNvSpPr/>
          <p:nvPr/>
        </p:nvSpPr>
        <p:spPr>
          <a:xfrm>
            <a:off x="5662635" y="4855194"/>
            <a:ext cx="1775460" cy="661982"/>
          </a:xfrm>
          <a:prstGeom prst="rect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BF53B35-B9B8-A9FF-3AA2-1899EFC07203}"/>
              </a:ext>
            </a:extLst>
          </p:cNvPr>
          <p:cNvSpPr txBox="1"/>
          <p:nvPr/>
        </p:nvSpPr>
        <p:spPr>
          <a:xfrm>
            <a:off x="2155348" y="4254158"/>
            <a:ext cx="193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/>
              <a:t>Si es similar </a:t>
            </a:r>
            <a:r>
              <a:rPr lang="es-ES" sz="1200" b="1" dirty="0" err="1"/>
              <a:t>similar</a:t>
            </a:r>
            <a:r>
              <a:rPr lang="es-ES" sz="1200" b="1" dirty="0"/>
              <a:t> a 1, Poisson, si no Binomial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040EFD5-032D-E564-F4C4-E6E0E052A956}"/>
              </a:ext>
            </a:extLst>
          </p:cNvPr>
          <p:cNvCxnSpPr>
            <a:cxnSpLocks/>
          </p:cNvCxnSpPr>
          <p:nvPr/>
        </p:nvCxnSpPr>
        <p:spPr>
          <a:xfrm flipH="1">
            <a:off x="7438095" y="4153999"/>
            <a:ext cx="341925" cy="661982"/>
          </a:xfrm>
          <a:prstGeom prst="straightConnector1">
            <a:avLst/>
          </a:prstGeom>
          <a:ln w="38100">
            <a:solidFill>
              <a:schemeClr val="accent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ABB30AF-A038-2D99-05D9-ADDD262E0289}"/>
              </a:ext>
            </a:extLst>
          </p:cNvPr>
          <p:cNvSpPr txBox="1"/>
          <p:nvPr/>
        </p:nvSpPr>
        <p:spPr>
          <a:xfrm>
            <a:off x="5662635" y="4855194"/>
            <a:ext cx="17754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/>
              <a:t>Si es &gt; 12 no puede ser binomial (por tanto Poisson)</a:t>
            </a:r>
          </a:p>
        </p:txBody>
      </p:sp>
    </p:spTree>
    <p:extLst>
      <p:ext uri="{BB962C8B-B14F-4D97-AF65-F5344CB8AC3E}">
        <p14:creationId xmlns:p14="http://schemas.microsoft.com/office/powerpoint/2010/main" val="161885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9" grpId="0" animBg="1"/>
      <p:bldP spid="40" grpId="0" animBg="1"/>
      <p:bldP spid="41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6FE25-3B8C-4660-0899-35CB53822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8CCF7-65FA-5B28-2A7C-64DAB5AC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06" y="352748"/>
            <a:ext cx="8534400" cy="648279"/>
          </a:xfrm>
        </p:spPr>
        <p:txBody>
          <a:bodyPr/>
          <a:lstStyle/>
          <a:p>
            <a:r>
              <a:rPr lang="es-ES" b="1" dirty="0"/>
              <a:t>2) Representaciones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292447-BAEC-35EB-B1AD-FE8657E6F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5" y="1569449"/>
            <a:ext cx="5816535" cy="318543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59FE1EF-185B-9D18-BAD3-9270A8B2C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9449"/>
            <a:ext cx="5724542" cy="3185430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F23C1699-8BD3-BF1D-C46B-1D7E18CC350A}"/>
              </a:ext>
            </a:extLst>
          </p:cNvPr>
          <p:cNvSpPr/>
          <p:nvPr/>
        </p:nvSpPr>
        <p:spPr>
          <a:xfrm>
            <a:off x="4297680" y="3429000"/>
            <a:ext cx="1455420" cy="990600"/>
          </a:xfrm>
          <a:prstGeom prst="ellipse">
            <a:avLst/>
          </a:prstGeom>
          <a:noFill/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1FB45B4B-237E-7442-A15F-0F84B40B8CA1}"/>
              </a:ext>
            </a:extLst>
          </p:cNvPr>
          <p:cNvSpPr/>
          <p:nvPr/>
        </p:nvSpPr>
        <p:spPr>
          <a:xfrm>
            <a:off x="7109460" y="2164081"/>
            <a:ext cx="3657600" cy="1813560"/>
          </a:xfrm>
          <a:custGeom>
            <a:avLst/>
            <a:gdLst>
              <a:gd name="connsiteX0" fmla="*/ 0 w 3657600"/>
              <a:gd name="connsiteY0" fmla="*/ 1805973 h 1805973"/>
              <a:gd name="connsiteX1" fmla="*/ 1706880 w 3657600"/>
              <a:gd name="connsiteY1" fmla="*/ 33 h 1805973"/>
              <a:gd name="connsiteX2" fmla="*/ 3657600 w 3657600"/>
              <a:gd name="connsiteY2" fmla="*/ 1767873 h 1805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0" h="1805973">
                <a:moveTo>
                  <a:pt x="0" y="1805973"/>
                </a:moveTo>
                <a:cubicBezTo>
                  <a:pt x="548640" y="906178"/>
                  <a:pt x="1097280" y="6383"/>
                  <a:pt x="1706880" y="33"/>
                </a:cubicBezTo>
                <a:cubicBezTo>
                  <a:pt x="2316480" y="-6317"/>
                  <a:pt x="2987040" y="880778"/>
                  <a:pt x="3657600" y="1767873"/>
                </a:cubicBezTo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704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64EF-9F98-ADBF-557D-3D4CEE4E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CAF7A-36A2-AE69-813A-45300120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06" y="352748"/>
            <a:ext cx="8534400" cy="648279"/>
          </a:xfrm>
        </p:spPr>
        <p:txBody>
          <a:bodyPr/>
          <a:lstStyle/>
          <a:p>
            <a:r>
              <a:rPr lang="es-ES" b="1" dirty="0"/>
              <a:t>3) Distribución normal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ADDE98-744A-B965-C136-F47F97B18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67" y="1902814"/>
            <a:ext cx="8615866" cy="480303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3F7C0E5-194D-13F9-96A4-8B6434BB30EB}"/>
              </a:ext>
            </a:extLst>
          </p:cNvPr>
          <p:cNvSpPr txBox="1"/>
          <p:nvPr/>
        </p:nvSpPr>
        <p:spPr>
          <a:xfrm>
            <a:off x="1941784" y="1001027"/>
            <a:ext cx="830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¿Cuál es la principal </a:t>
            </a:r>
            <a:r>
              <a:rPr lang="es-ES" sz="1400" b="1" u="sng" dirty="0"/>
              <a:t>diferencia entre utilizar la distribución Binomial(𝒏 = 𝟏𝟐, 𝒑 = 𝟎. 𝟓) o la aproximación Normal </a:t>
            </a:r>
            <a:r>
              <a:rPr lang="es-ES" sz="1400" b="1" dirty="0"/>
              <a:t>para describir un fenómeno cuya distribución de probabilidad tenga esa forma?</a:t>
            </a:r>
          </a:p>
        </p:txBody>
      </p:sp>
    </p:spTree>
    <p:extLst>
      <p:ext uri="{BB962C8B-B14F-4D97-AF65-F5344CB8AC3E}">
        <p14:creationId xmlns:p14="http://schemas.microsoft.com/office/powerpoint/2010/main" val="986801714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41</TotalTime>
  <Words>98</Words>
  <Application>Microsoft Office PowerPoint</Application>
  <PresentationFormat>Panorámica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Sector</vt:lpstr>
      <vt:lpstr>Análisis distribuciones binomial vs poisson  &amp; normal</vt:lpstr>
      <vt:lpstr>1) MEDIDAS ESTADÍSTICAS</vt:lpstr>
      <vt:lpstr>2) Representaciones</vt:lpstr>
      <vt:lpstr>3) Distribución normal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García</dc:creator>
  <cp:lastModifiedBy>Sergio García</cp:lastModifiedBy>
  <cp:revision>1</cp:revision>
  <dcterms:created xsi:type="dcterms:W3CDTF">2025-11-30T11:53:27Z</dcterms:created>
  <dcterms:modified xsi:type="dcterms:W3CDTF">2025-11-30T12:34:29Z</dcterms:modified>
</cp:coreProperties>
</file>